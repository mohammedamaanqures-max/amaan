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Airline Passenger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6AE2D"/>
                </a:solidFill>
              </a:rPr>
              <a:t>Dataset Analysis &amp; Key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429000"/>
            <a:ext cx="3959352" cy="45720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CCEE"/>
                </a:solidFill>
              </a:rPr>
              <a:t>Exploratory Data Analysis  |  Passenger Experience  |  Satisfaction Drivers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Airline Dataset — Passenger Satisfaction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972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Dataset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Description of the airline passenger satisfaction dataset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Passenger Demographics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04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Analysis of customer types, age groups, and travel class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62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Service Quality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73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In-flight services, seat comfort, food, and entertainment ratings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313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Key Satisfaction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42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Top factors influencing passenger satisfaction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70916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0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Satisfaction vs. Dissatisfaction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0109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Breakdown of satisfied vs. neutral/dissatisfied passengers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57784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68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Conclusions &amp;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879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Actionable insights for airlines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129,880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Passengers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560320" cy="137160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Feature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560320" cy="1371600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Target Classes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280160"/>
            <a:ext cx="2560320" cy="13716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~54%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Dissatisfied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E"/>
                </a:solidFill>
              </a:rPr>
              <a:t>About the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The dataset contains survey results from airline passengers covering in-flight services, personal details,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and overall satisfaction ratings.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5993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Each row represents one passenger and includes both demographic information (age, gender, customer type)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4398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and service ratings (seat comfort, food &amp; drink, Wi-Fi, entertainment, on-board service, etc.).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280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The target variable classifies passengers as Satisfied or Neutral/Dissatisfied.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Data is split into training and test sets for predictive modelling purposes.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Passenger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Gender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63220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9404" y="1600200"/>
            <a:ext cx="1568195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Female  51%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568195" cy="411480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5395" y="2286000"/>
            <a:ext cx="1632204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Male  49%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Customer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2624327" cy="41148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3447" y="1600200"/>
            <a:ext cx="576072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39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Loyal Customer  82%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86000"/>
            <a:ext cx="576072" cy="41148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65192" y="2286000"/>
            <a:ext cx="2624327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7249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Disloyal Customer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Travel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600200"/>
            <a:ext cx="1667865" cy="41148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97465" y="1600200"/>
            <a:ext cx="1806854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Business  48%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156362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93224" y="2286000"/>
            <a:ext cx="1911095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Economy  45%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971800"/>
            <a:ext cx="243230" cy="411480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2830" y="2971800"/>
            <a:ext cx="3231489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410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Economy Plus  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29000"/>
            <a:ext cx="11640312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Age Group Distribution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747847"/>
            <a:ext cx="1417320" cy="73855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735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14%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Under 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4325816"/>
            <a:ext cx="1417320" cy="1160584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1720" y="4051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25-34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4114800"/>
            <a:ext cx="1417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3840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26%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35-44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4325816"/>
            <a:ext cx="1417320" cy="1160584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4051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22%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45-54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853354"/>
            <a:ext cx="1417320" cy="63304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457903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55-64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5275385"/>
            <a:ext cx="1417320" cy="211015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5001065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356E"/>
                </a:solidFill>
              </a:rPr>
              <a:t>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046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65+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Service Quality 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6AE2D"/>
                </a:solidFill>
              </a:rPr>
              <a:t>Average scores on a 1–5 scale across key service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In-flight Entertainment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98448"/>
            <a:ext cx="2457907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04027" y="1298448"/>
            <a:ext cx="119969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344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02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Seat Comfort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066544"/>
            <a:ext cx="2516428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2548" y="2066544"/>
            <a:ext cx="1141171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0025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70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Food &amp; Drink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834640"/>
            <a:ext cx="2340864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86984" y="2834640"/>
            <a:ext cx="1316736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7706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5387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On-board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602736"/>
            <a:ext cx="2472537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8657" y="3602736"/>
            <a:ext cx="118506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5387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06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Leg Room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370832"/>
            <a:ext cx="2450592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96712" y="4370832"/>
            <a:ext cx="1207007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306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074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In-flight Wi-Fi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5138928"/>
            <a:ext cx="1997049" cy="256032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43169" y="5138928"/>
            <a:ext cx="166055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0749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2.73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Ease of Online 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298448"/>
            <a:ext cx="2018995" cy="256032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117275" y="1298448"/>
            <a:ext cx="1638604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0" y="12344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2.76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002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Gate Location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066544"/>
            <a:ext cx="2172614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70894" y="2066544"/>
            <a:ext cx="1484985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0" y="20025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2.97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770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Baggage Handling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834640"/>
            <a:ext cx="2655417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53697" y="2834640"/>
            <a:ext cx="100218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0" y="27706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5387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Check-in 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3602736"/>
            <a:ext cx="2421331" cy="25603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19611" y="3602736"/>
            <a:ext cx="1236268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0" y="35387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306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Cleanliness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4370832"/>
            <a:ext cx="2406700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04980" y="4370832"/>
            <a:ext cx="1250899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0" y="4306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074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Departure/Arrival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5138928"/>
            <a:ext cx="2238451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36731" y="5138928"/>
            <a:ext cx="1419148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0" y="50749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3.06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989320"/>
            <a:ext cx="228600" cy="164592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Good (≥3.3)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989320"/>
            <a:ext cx="228600" cy="16459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Average (2.9–3.3)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5989320"/>
            <a:ext cx="228600" cy="164592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Below Average (&lt;2.9)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Satisfaction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6AE2D"/>
                </a:solidFill>
              </a:rPr>
              <a:t>Features most correlated with passenger satisfaction (feature importance ranking)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Online Boarding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35024"/>
            <a:ext cx="6103620" cy="256032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42932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28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In-flight Entertainment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83080"/>
            <a:ext cx="5143500" cy="256032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2812" y="17282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Seat Comfort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231136"/>
            <a:ext cx="4937760" cy="256032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1762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24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On-board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679192"/>
            <a:ext cx="46634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624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72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Leg Room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127248"/>
            <a:ext cx="452628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30723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Cleanliness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575304"/>
            <a:ext cx="411480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968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Baggage Handling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023360"/>
            <a:ext cx="3909059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8372" y="39684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416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In-flight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471416"/>
            <a:ext cx="3771900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1212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Food &amp; Drink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919472"/>
            <a:ext cx="3291840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4864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312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In-flight Wi-Fi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5367528"/>
            <a:ext cx="2880360" cy="256032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53126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E"/>
                </a:solidFill>
              </a:rPr>
              <a:t>0.42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188720"/>
            <a:ext cx="448056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1188720"/>
            <a:ext cx="91440" cy="484632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E"/>
                </a:solidFill>
              </a:rPr>
              <a:t>Key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✈  Online Boarding is the #1 predictor
    of passenger satisfaction.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26517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✈  In-flight entertainment &amp; seat comfort
    are critical differentiators.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4747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✈  Business class passengers report
    significantly higher satisfaction.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2976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✈  Wi-Fi quality, while lower-rated,
    still influences overall sentiment.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1206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✈  Loyal customers tend to have higher
    satisfaction thresholds.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Satisfaction vs. Dissatisfaction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E"/>
                </a:solidFill>
              </a:rPr>
              <a:t>Overall Satisfaction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162556" cy="822960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8316" y="1645920"/>
            <a:ext cx="2866644" cy="82296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B883"/>
                </a:solidFill>
              </a:rPr>
              <a:t>Satisfied  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B3B"/>
                </a:solidFill>
              </a:rPr>
              <a:t>Neutral/Dissatisfied  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Satisfaction Rate by Travel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639312"/>
            <a:ext cx="2880360" cy="292608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3639312"/>
            <a:ext cx="1234439" cy="292608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950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B883"/>
                </a:solidFill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50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3B3B"/>
                </a:solidFill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06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Economy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4279392"/>
            <a:ext cx="1028700" cy="292608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6060" y="4279392"/>
            <a:ext cx="3086100" cy="292608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B883"/>
                </a:solidFill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6060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3B3B"/>
                </a:solidFill>
              </a:rP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Economy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919472"/>
            <a:ext cx="781812" cy="292608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19172" y="4919472"/>
            <a:ext cx="3332988" cy="292608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230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B883"/>
                </a:solidFill>
              </a:rPr>
              <a:t>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172" y="5230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3B3B"/>
                </a:solidFill>
              </a:rPr>
              <a:t>81%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Satisfaction by Customer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645920"/>
            <a:ext cx="54864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645920"/>
            <a:ext cx="2633472" cy="731520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Loyal 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Satisfied: 48%  |  Dissatisfied: 52%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51760"/>
            <a:ext cx="54864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651760"/>
            <a:ext cx="1371600" cy="731520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Disloyal 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44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Satisfied: 25%  |  Dissatisfied: 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E"/>
                </a:solidFill>
              </a:rPr>
              <a:t>By Travel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Business Travel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416552"/>
            <a:ext cx="1856231" cy="274320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60151" y="4416552"/>
            <a:ext cx="1344168" cy="2743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Sat: 58% / Dis: 42%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Personal Travel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5193792"/>
            <a:ext cx="320040" cy="274320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3960" y="5193792"/>
            <a:ext cx="2880360" cy="2743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Sat: 10% / Dis: 90%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91440" cy="841248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E"/>
                </a:solidFill>
              </a:rPr>
              <a:t>Business Class Dominates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70% of business class passengers are satisfied. Airlines should protect and enhance business class experiences to maintain their most loyal and high-revenue 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84832"/>
            <a:ext cx="1164031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2"/>
            <a:ext cx="91440" cy="84124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30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E"/>
                </a:solidFill>
              </a:rPr>
              <a:t>Digital Experience is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Online boarding and in-flight Wi-Fi are among the top drivers. Investing in seamless digital touchpoints — from booking to boarding — is key to improving satisfaction.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26664"/>
            <a:ext cx="1164031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26664"/>
            <a:ext cx="91440" cy="841248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E"/>
                </a:solidFill>
              </a:rPr>
              <a:t>Economy Class Needs Urgent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107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Only 19% of economy passengers report satisfaction. Targeted improvements in seat comfort, food quality, and entertainment can significantly lift scores in this large segment.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68496"/>
            <a:ext cx="1164031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68496"/>
            <a:ext cx="91440" cy="841248"/>
          </a:xfrm>
          <a:prstGeom prst="rect">
            <a:avLst/>
          </a:prstGeom>
          <a:solidFill>
            <a:srgbClr val="2D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E"/>
                </a:solidFill>
              </a:rPr>
              <a:t>Loyal Customers Are an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5254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Loyal customers show higher satisfaction despite having more trips to compare. Loyalty programs and personalised service should be strengthened to grow this group.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10328"/>
            <a:ext cx="1164031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910328"/>
            <a:ext cx="91440" cy="841248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56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E"/>
                </a:solidFill>
              </a:rPr>
              <a:t>Personal Travellers Are the Biggest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943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Only 10% satisfaction among personal travellers. This segment may have different expectations — family-friendly services, value for money, and entertainment for children could help.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336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Airline Dataset — Passenger Satisfaction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336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60" y="914400"/>
            <a:ext cx="4114800" cy="4114800"/>
          </a:xfrm>
          <a:prstGeom prst="ellipse">
            <a:avLst/>
          </a:prstGeom>
          <a:solidFill>
            <a:srgbClr val="1A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6AE2D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840480"/>
            <a:ext cx="3044952" cy="45720"/>
          </a:xfrm>
          <a:prstGeom prst="rect">
            <a:avLst/>
          </a:prstGeom>
          <a:solidFill>
            <a:srgbClr val="F6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CCEE"/>
                </a:solidFill>
              </a:rPr>
              <a:t>Airline Passenger Satisfaction  |  Dataset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